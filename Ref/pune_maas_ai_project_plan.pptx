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77" r:id="rId9"/>
    <p:sldId id="273" r:id="rId10"/>
    <p:sldId id="275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LSTM-GAT&amp;sca_esv=95fd351cc3e058c0&amp;sxsrf=ANbL-n6raylpsFV4nM3vYJgZ7Wf5vZbvtg%3A1773184083360&amp;source=hp&amp;ei=U6SwaYGHFNq9ptQP2eHlgAs&amp;iflsig=AFdpzrgAAAAAabCyYyBoptt7es7QeTotQD58RGNAvbYa&amp;oq=best+GNN-based+models+for+rout&amp;gs_lp=Egdnd3Mtd2l6Ih5iZXN0IEdOTi1iYXNlZCBtb2RlbHMgZm9yIHJvdXQqAggAMgcQIRigARgKMgcQIRigARgKMgcQIRigARgKMgcQIRigARgKSLdXUABY3jpwAHgAkAEAmAGsAaAB7QqqAQQxNy4xuAEDyAEA-AEB-AECmAISoAK5C8ICBBAjGCfCAgoQIxiABBgnGIoFwgILEAAYgAQYkQIYigXCAg4QLhiABBixAxiDARiKBcICDhAuGIAEGLEDGNEDGMcBwgILEAAYgAQYsQMYgwHCAhEQLhiABBixAxjRAxiDARjHAcICCxAuGIAEGNEDGMcBwgIIEC4YgAQYsQPCAhAQIxjwBRiABBgnGMkCGIoFwgIIEAAYgAQYyQPCAgsQABiABBiSAxiKBcICCBAAGIAEGLEDwgIFEAAYgATCAgUQIRigAcICCBAhGKABGMMEwgIFECEYqwKYAwCSBwQxNy4xoAeOeLIHBDE3LjG4B7kLwgcIMi4xMS40LjHIByiACAA&amp;sclient=gws-wiz&amp;mstk=AUtExfDbPofJiic6D-c6hMPHw9EcryKBMhIyTk3gv_6PUtuhqx5P-J20Z3x6A0zTAGQD5MNn6EhDy__uGfQoBP8Galr0zQngsnwga9vO1rJ6Cc_k50wqbsHnfVNAC0dnEKpknbUtgFkQZxX3xJQy_EWKy4I6fsedof4AOt6DuHyfyHirYHgyyQFFyi8lB_3jxAeK67M1uKo3b-tI5QecVkCTMyJzjEjjGbbA-kP_4fmjzYwulU0rTt1yxv8Hsp9W3tvmPSRb0fZY9yqldXn4YssqXqerIwc7PIAwyozMEwoZNEbo4YfJUX293ORWRlF6cdH4weagU-IkuDic8Y25LA89O5fGs5OBgLnUbLW4oDq7Po7-&amp;csui=3&amp;ved=2ahUKEwjVq6bBuZaTAxVwM1kFHYUqKywQgK4QegQIBBAD" TargetMode="External"/><Relationship Id="rId2" Type="http://schemas.openxmlformats.org/officeDocument/2006/relationships/hyperlink" Target="https://www.google.com/search?q=GNN-DRL+%28Deep+Reinforcement+Learning%29&amp;sca_esv=95fd351cc3e058c0&amp;sxsrf=ANbL-n6raylpsFV4nM3vYJgZ7Wf5vZbvtg%3A1773184083360&amp;source=hp&amp;ei=U6SwaYGHFNq9ptQP2eHlgAs&amp;iflsig=AFdpzrgAAAAAabCyYyBoptt7es7QeTotQD58RGNAvbYa&amp;oq=best+GNN-based+models+for+rout&amp;gs_lp=Egdnd3Mtd2l6Ih5iZXN0IEdOTi1iYXNlZCBtb2RlbHMgZm9yIHJvdXQqAggAMgcQIRigARgKMgcQIRigARgKMgcQIRigARgKMgcQIRigARgKSLdXUABY3jpwAHgAkAEAmAGsAaAB7QqqAQQxNy4xuAEDyAEA-AEB-AECmAISoAK5C8ICBBAjGCfCAgoQIxiABBgnGIoFwgILEAAYgAQYkQIYigXCAg4QLhiABBixAxiDARiKBcICDhAuGIAEGLEDGNEDGMcBwgILEAAYgAQYsQMYgwHCAhEQLhiABBixAxjRAxiDARjHAcICCxAuGIAEGNEDGMcBwgIIEC4YgAQYsQPCAhAQIxjwBRiABBgnGMkCGIoFwgIIEAAYgAQYyQPCAgsQABiABBiSAxiKBcICCBAAGIAEGLEDwgIFEAAYgATCAgUQIRigAcICCBAhGKABGMMEwgIFECEYqwKYAwCSBwQxNy4xoAeOeLIHBDE3LjG4B7kLwgcIMi4xMS40LjHIByiACAA&amp;sclient=gws-wiz&amp;mstk=AUtExfDbPofJiic6D-c6hMPHw9EcryKBMhIyTk3gv_6PUtuhqx5P-J20Z3x6A0zTAGQD5MNn6EhDy__uGfQoBP8Galr0zQngsnwga9vO1rJ6Cc_k50wqbsHnfVNAC0dnEKpknbUtgFkQZxX3xJQy_EWKy4I6fsedof4AOt6DuHyfyHirYHgyyQFFyi8lB_3jxAeK67M1uKo3b-tI5QecVkCTMyJzjEjjGbbA-kP_4fmjzYwulU0rTt1yxv8Hsp9W3tvmPSRb0fZY9yqldXn4YssqXqerIwc7PIAwyozMEwoZNEbo4YfJUX293ORWRlF6cdH4weagU-IkuDic8Y25LA89O5fGs5OBgLnUbLW4oDq7Po7-&amp;csui=3&amp;ved=2ahUKEwjVq6bBuZaTAxVwM1kFHYUqKywQgK4QegQIBBAB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Pune MaaS AI Prototype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Project Overview &amp; Task Breakdown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prototype AI assistant for Pune multi‑modal transit planning</a:t>
            </a:r>
          </a:p>
          <a:p>
            <a:r>
              <a:t>Reduce hidden wait time in public transportation</a:t>
            </a:r>
          </a:p>
          <a:p>
            <a:r>
              <a:t>Predict congestion at transfer stations</a:t>
            </a:r>
          </a:p>
          <a:p>
            <a:r>
              <a:t>Recommend feeder transport dispatch to improve first/last mile connectivity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enters start station, destination, and preferred arrival time</a:t>
            </a:r>
          </a:p>
          <a:p>
            <a:r>
              <a:t>System calculates best metro route</a:t>
            </a:r>
          </a:p>
          <a:p>
            <a:r>
              <a:t>AI predicts congestion at key transfer stations</a:t>
            </a:r>
          </a:p>
          <a:p>
            <a:r>
              <a:t>System recommends additional feeder transport if delays are predicted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Streamlit UI collects user inputs</a:t>
            </a:r>
          </a:p>
          <a:p>
            <a:r>
              <a:t>Routing Engine computes shortest metro route</a:t>
            </a:r>
          </a:p>
          <a:p>
            <a:r>
              <a:t>Demand Prediction module estimates crowd levels</a:t>
            </a:r>
          </a:p>
          <a:p>
            <a:r>
              <a:t>Feeder Dispatch Agent recommends transport adjustments</a:t>
            </a:r>
          </a:p>
          <a:p>
            <a:r>
              <a:t>Results displayed with explanation for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 err="1"/>
              <a:t>stations.json</a:t>
            </a:r>
            <a:r>
              <a:rPr dirty="0"/>
              <a:t> – defines metro stations and connections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dirty="0"/>
              <a:t>  "stations": ["PCMC", "</a:t>
            </a:r>
            <a:r>
              <a:rPr lang="en-US" dirty="0" err="1"/>
              <a:t>ShivajiNagar</a:t>
            </a:r>
            <a:r>
              <a:rPr lang="en-US" dirty="0"/>
              <a:t>", "</a:t>
            </a:r>
            <a:r>
              <a:rPr lang="en-US" dirty="0" err="1"/>
              <a:t>CivilCourt</a:t>
            </a:r>
            <a:r>
              <a:rPr lang="en-US" dirty="0"/>
              <a:t>", "</a:t>
            </a:r>
            <a:r>
              <a:rPr lang="en-US" dirty="0" err="1"/>
              <a:t>Vanaz</a:t>
            </a:r>
            <a:r>
              <a:rPr lang="en-US" dirty="0"/>
              <a:t>"],</a:t>
            </a:r>
          </a:p>
          <a:p>
            <a:pPr marL="457200" lvl="1" indent="0">
              <a:buNone/>
            </a:pPr>
            <a:r>
              <a:rPr lang="en-US" dirty="0"/>
              <a:t>  "edges": [</a:t>
            </a:r>
          </a:p>
          <a:p>
            <a:pPr marL="457200" lvl="1" indent="0">
              <a:buNone/>
            </a:pPr>
            <a:r>
              <a:rPr lang="en-US" dirty="0"/>
              <a:t>    {"from":"PCMC","to":"ShivajiNagar","minutes":12,"mode":"metro"},</a:t>
            </a:r>
          </a:p>
          <a:p>
            <a:pPr marL="457200" lvl="1" indent="0">
              <a:buNone/>
            </a:pPr>
            <a:r>
              <a:rPr lang="en-US" dirty="0"/>
              <a:t>    {"from":"ShivajiNagar","to":"CivilCourt","minutes":6,"mode":"metro"},</a:t>
            </a:r>
          </a:p>
          <a:p>
            <a:pPr marL="457200" lvl="1" indent="0">
              <a:buNone/>
            </a:pPr>
            <a:r>
              <a:rPr lang="en-US" dirty="0"/>
              <a:t>    {"from":"CivilCourt","to":"Vanaz","minutes":10,"mode":"metro"}</a:t>
            </a:r>
          </a:p>
          <a:p>
            <a:pPr marL="457200" lvl="1" indent="0">
              <a:buNone/>
            </a:pPr>
            <a:r>
              <a:rPr lang="en-US" dirty="0"/>
              <a:t>  ]</a:t>
            </a:r>
          </a:p>
          <a:p>
            <a:pPr marL="457200" lvl="1" indent="0">
              <a:buNone/>
            </a:pPr>
            <a:r>
              <a:rPr lang="en-US" dirty="0"/>
              <a:t>}</a:t>
            </a:r>
            <a:endParaRPr dirty="0"/>
          </a:p>
          <a:p>
            <a:r>
              <a:rPr dirty="0" err="1"/>
              <a:t>feeders.json</a:t>
            </a:r>
            <a:r>
              <a:rPr dirty="0"/>
              <a:t> – defines feeder transport types</a:t>
            </a:r>
          </a:p>
          <a:p>
            <a:r>
              <a:rPr dirty="0"/>
              <a:t>demand.csv – historical demand data for wait prediction</a:t>
            </a:r>
          </a:p>
          <a:p>
            <a:r>
              <a:rPr dirty="0"/>
              <a:t>Synthetic data is sufficient for prototype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B3FB1-C027-CFB6-931B-A4810B54AA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 1: Journey Planner</a:t>
            </a:r>
          </a:p>
        </p:txBody>
      </p:sp>
    </p:spTree>
    <p:extLst>
      <p:ext uri="{BB962C8B-B14F-4D97-AF65-F5344CB8AC3E}">
        <p14:creationId xmlns:p14="http://schemas.microsoft.com/office/powerpoint/2010/main" val="1475909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Agent 1: </a:t>
            </a:r>
            <a:r>
              <a:rPr lang="en-US" dirty="0"/>
              <a:t>Simple Version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Function: </a:t>
            </a:r>
            <a:r>
              <a:rPr dirty="0" err="1"/>
              <a:t>journey_planner</a:t>
            </a:r>
            <a:r>
              <a:rPr dirty="0"/>
              <a:t>(origin, </a:t>
            </a:r>
            <a:r>
              <a:rPr dirty="0" err="1"/>
              <a:t>dest</a:t>
            </a:r>
            <a:r>
              <a:rPr dirty="0"/>
              <a:t>)</a:t>
            </a:r>
          </a:p>
          <a:p>
            <a:r>
              <a:rPr dirty="0"/>
              <a:t>Uses </a:t>
            </a:r>
            <a:r>
              <a:rPr dirty="0" err="1"/>
              <a:t>NetworkX</a:t>
            </a:r>
            <a:r>
              <a:rPr dirty="0"/>
              <a:t> graph to compute shortest route</a:t>
            </a:r>
          </a:p>
          <a:p>
            <a:r>
              <a:rPr dirty="0"/>
              <a:t>Returns: path, step‑by‑step route, and total travel time</a:t>
            </a:r>
          </a:p>
          <a:p>
            <a:r>
              <a:rPr dirty="0"/>
              <a:t>Core routing intelligence of the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27E46-B500-0AAC-3968-FD81681C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 Training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1439B-1377-5595-D6C3-35686EA52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Pink Line</a:t>
            </a:r>
          </a:p>
          <a:p>
            <a:pPr marL="0" indent="0">
              <a:buNone/>
            </a:pPr>
            <a:r>
              <a:rPr lang="en-US" dirty="0"/>
              <a:t>Megapolis ── </a:t>
            </a:r>
            <a:r>
              <a:rPr lang="en-US" dirty="0" err="1"/>
              <a:t>Quadron</a:t>
            </a:r>
            <a:r>
              <a:rPr lang="en-US" dirty="0"/>
              <a:t> ── Infosys ── </a:t>
            </a:r>
            <a:r>
              <a:rPr lang="en-US" dirty="0" err="1"/>
              <a:t>Wakad</a:t>
            </a:r>
            <a:r>
              <a:rPr lang="en-US" dirty="0"/>
              <a:t> ── Baner ── University</a:t>
            </a:r>
          </a:p>
          <a:p>
            <a:pPr marL="0" indent="0">
              <a:buNone/>
            </a:pPr>
            <a:r>
              <a:rPr lang="en-US" dirty="0"/>
              <a:t>                                            │</a:t>
            </a:r>
          </a:p>
          <a:p>
            <a:pPr marL="0" indent="0">
              <a:buNone/>
            </a:pPr>
            <a:r>
              <a:rPr lang="en-US" dirty="0"/>
              <a:t>                                            │</a:t>
            </a:r>
          </a:p>
          <a:p>
            <a:pPr marL="0" indent="0">
              <a:buNone/>
            </a:pPr>
            <a:r>
              <a:rPr lang="en-US" dirty="0"/>
              <a:t>                                            ▼</a:t>
            </a:r>
          </a:p>
          <a:p>
            <a:pPr marL="0" indent="0">
              <a:buNone/>
            </a:pPr>
            <a:r>
              <a:rPr lang="en-US" dirty="0"/>
              <a:t>                                    Shivaji Nagar</a:t>
            </a:r>
          </a:p>
          <a:p>
            <a:pPr marL="0" indent="0">
              <a:buNone/>
            </a:pPr>
            <a:r>
              <a:rPr lang="en-US" dirty="0"/>
              <a:t>                                     │</a:t>
            </a:r>
          </a:p>
          <a:p>
            <a:pPr marL="0" indent="0">
              <a:buNone/>
            </a:pPr>
            <a:r>
              <a:rPr lang="en-US" dirty="0"/>
              <a:t>                                     │</a:t>
            </a:r>
          </a:p>
          <a:p>
            <a:pPr marL="0" indent="0">
              <a:buNone/>
            </a:pPr>
            <a:r>
              <a:rPr lang="en-US" dirty="0"/>
              <a:t>Purple Line                          │</a:t>
            </a:r>
          </a:p>
          <a:p>
            <a:pPr marL="0" indent="0">
              <a:buNone/>
            </a:pPr>
            <a:r>
              <a:rPr lang="en-US" dirty="0"/>
              <a:t>PCMC ── </a:t>
            </a:r>
            <a:r>
              <a:rPr lang="en-US" dirty="0" err="1"/>
              <a:t>Phugewadi</a:t>
            </a:r>
            <a:r>
              <a:rPr lang="en-US" dirty="0"/>
              <a:t> ── </a:t>
            </a:r>
            <a:r>
              <a:rPr lang="en-US" dirty="0" err="1"/>
              <a:t>Khadki</a:t>
            </a:r>
            <a:r>
              <a:rPr lang="en-US" dirty="0"/>
              <a:t> ── Range Hills</a:t>
            </a:r>
          </a:p>
          <a:p>
            <a:pPr marL="0" indent="0">
              <a:buNone/>
            </a:pPr>
            <a:r>
              <a:rPr lang="en-US" dirty="0"/>
              <a:t>                                     │</a:t>
            </a:r>
          </a:p>
          <a:p>
            <a:pPr marL="0" indent="0">
              <a:buNone/>
            </a:pPr>
            <a:r>
              <a:rPr lang="en-US" dirty="0"/>
              <a:t>                                     ▼</a:t>
            </a:r>
          </a:p>
          <a:p>
            <a:pPr marL="0" indent="0">
              <a:buNone/>
            </a:pPr>
            <a:r>
              <a:rPr lang="en-US" dirty="0"/>
              <a:t>                               District Court</a:t>
            </a:r>
          </a:p>
          <a:p>
            <a:pPr marL="0" indent="0">
              <a:buNone/>
            </a:pPr>
            <a:r>
              <a:rPr lang="en-US" dirty="0"/>
              <a:t>                                     ▲</a:t>
            </a:r>
          </a:p>
          <a:p>
            <a:pPr marL="0" indent="0">
              <a:buNone/>
            </a:pPr>
            <a:r>
              <a:rPr lang="en-US" dirty="0"/>
              <a:t>                                     │</a:t>
            </a:r>
          </a:p>
          <a:p>
            <a:pPr marL="0" indent="0">
              <a:buNone/>
            </a:pPr>
            <a:r>
              <a:rPr lang="en-US" dirty="0"/>
              <a:t>Aqua Line                            │</a:t>
            </a:r>
          </a:p>
          <a:p>
            <a:pPr marL="0" indent="0">
              <a:buNone/>
            </a:pPr>
            <a:r>
              <a:rPr lang="en-US" dirty="0" err="1"/>
              <a:t>Vanaz</a:t>
            </a:r>
            <a:r>
              <a:rPr lang="en-US" dirty="0"/>
              <a:t> ── Deccan ── PMC Bhavan ── Pune Station ── </a:t>
            </a:r>
            <a:r>
              <a:rPr lang="en-US" dirty="0" err="1"/>
              <a:t>Ramwadi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94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0B24F-87F4-FA1B-6072-8E0C48991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1: Final Concept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F0F06-167D-2032-B5B2-15098DAC8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Graph Neural Networks (GNNs) </a:t>
            </a:r>
          </a:p>
          <a:p>
            <a:r>
              <a:rPr lang="en-US" dirty="0"/>
              <a:t>For more complex graph learning tasks, especially those where node attributes and graph structure interact dynamically, you should use a GNN framework. This often involves converting your </a:t>
            </a:r>
            <a:r>
              <a:rPr lang="en-US" dirty="0" err="1"/>
              <a:t>NetworkX</a:t>
            </a:r>
            <a:r>
              <a:rPr lang="en-US" dirty="0"/>
              <a:t> graph into a compatible data structure for a library like </a:t>
            </a:r>
            <a:r>
              <a:rPr lang="en-US" dirty="0" err="1"/>
              <a:t>PyTorch</a:t>
            </a:r>
            <a:r>
              <a:rPr lang="en-US" dirty="0"/>
              <a:t> Geometric (</a:t>
            </a:r>
            <a:r>
              <a:rPr lang="en-US" dirty="0" err="1"/>
              <a:t>PyG</a:t>
            </a:r>
            <a:r>
              <a:rPr lang="en-US" dirty="0"/>
              <a:t>). </a:t>
            </a:r>
          </a:p>
          <a:p>
            <a:r>
              <a:rPr lang="en-US" dirty="0"/>
              <a:t>Create your Graph: Define your graph in </a:t>
            </a:r>
            <a:r>
              <a:rPr lang="en-US" dirty="0" err="1"/>
              <a:t>NetworkX</a:t>
            </a:r>
            <a:r>
              <a:rPr lang="en-US" dirty="0"/>
              <a:t>, ensuring that you properly store node and edge attributes.</a:t>
            </a:r>
          </a:p>
          <a:p>
            <a:r>
              <a:rPr lang="en-US" dirty="0"/>
              <a:t>Convert to GNN Format: Convert the </a:t>
            </a:r>
            <a:r>
              <a:rPr lang="en-US" dirty="0" err="1"/>
              <a:t>NetworkX</a:t>
            </a:r>
            <a:r>
              <a:rPr lang="en-US" dirty="0"/>
              <a:t> graph object into a data format that the GNN library can use. For example, </a:t>
            </a:r>
            <a:r>
              <a:rPr lang="en-US" dirty="0" err="1"/>
              <a:t>PyTorch</a:t>
            </a:r>
            <a:r>
              <a:rPr lang="en-US" dirty="0"/>
              <a:t> Geometric provides conversion utilities.</a:t>
            </a:r>
          </a:p>
          <a:p>
            <a:r>
              <a:rPr lang="en-US" dirty="0"/>
              <a:t>Define and Train GNN Model: Use the GNN library's tools to define a GNN architecture (e.g., </a:t>
            </a:r>
            <a:r>
              <a:rPr lang="en-US" dirty="0" err="1"/>
              <a:t>GraphSAGE</a:t>
            </a:r>
            <a:r>
              <a:rPr lang="en-US" dirty="0"/>
              <a:t>), prepare data loaders for training batches, and run the training process using frameworks like </a:t>
            </a:r>
            <a:r>
              <a:rPr lang="en-US" dirty="0" err="1"/>
              <a:t>PyTorch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911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860B1-4FFD-EDDE-C341-8FE7CA04B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GNN-based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FDEB3-3DAC-756E-87D4-4A3B7876D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Top models for routing optimize network</a:t>
            </a:r>
          </a:p>
          <a:p>
            <a:pPr lvl="1"/>
            <a:r>
              <a:rPr lang="en-US" b="1" dirty="0">
                <a:hlinkClick r:id="rId2"/>
              </a:rPr>
              <a:t>GNN-DRL (Deep Reinforcement Learning)</a:t>
            </a:r>
            <a:r>
              <a:rPr lang="en-US" b="1" dirty="0"/>
              <a:t>:</a:t>
            </a:r>
            <a:r>
              <a:rPr lang="en-US" dirty="0"/>
              <a:t> Combines GNNs with DRL for intelligent routing, reducing maximum link utilization by 13.92% and average end-to-end delay by 9.48% compared to traditional methods	</a:t>
            </a:r>
          </a:p>
          <a:p>
            <a:pPr lvl="1"/>
            <a:r>
              <a:rPr lang="en-US" b="1" dirty="0">
                <a:hlinkClick r:id="rId3"/>
              </a:rPr>
              <a:t>LSTM-GAT</a:t>
            </a:r>
            <a:r>
              <a:rPr lang="en-US" b="1" dirty="0"/>
              <a:t>:</a:t>
            </a:r>
            <a:r>
              <a:rPr lang="en-US" dirty="0"/>
              <a:t> Combines Long Short-Term Memory networks with Graph Attention Networks, found to be the top performer in capturing spatial-temporal dynamics for routing in complex networks.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488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2: Demand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Function: predict_wait(station, weekday, hour)</a:t>
            </a:r>
          </a:p>
          <a:p>
            <a:r>
              <a:t>Reads historical demand dataset</a:t>
            </a:r>
          </a:p>
          <a:p>
            <a:r>
              <a:t>Predicts average wait time and crowd category</a:t>
            </a:r>
          </a:p>
          <a:p>
            <a:r>
              <a:t>Outputs: wait minutes, crowd level, confidence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3: Feeder Dispatch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Function: feeder_dispatch(station, predicted_wait)</a:t>
            </a:r>
          </a:p>
          <a:p>
            <a:r>
              <a:t>Applies rule‑based logic</a:t>
            </a:r>
          </a:p>
          <a:p>
            <a:r>
              <a:t>High wait → dispatch more autos/buses</a:t>
            </a:r>
          </a:p>
          <a:p>
            <a:r>
              <a:t>Medium wait → small dispatch boost</a:t>
            </a:r>
          </a:p>
          <a:p>
            <a:r>
              <a:t>Low wait → no additional dispatch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Streamlit app collects user selections</a:t>
            </a:r>
          </a:p>
          <a:p>
            <a:r>
              <a:t>Origin station</a:t>
            </a:r>
          </a:p>
          <a:p>
            <a:r>
              <a:t>Destination station</a:t>
            </a:r>
          </a:p>
          <a:p>
            <a:r>
              <a:t>Preferred arrival time</a:t>
            </a:r>
          </a:p>
          <a:p>
            <a:r>
              <a:t>Weekday and hour for demand 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Suggested metro route</a:t>
            </a:r>
          </a:p>
          <a:p>
            <a:r>
              <a:t>Estimated travel time</a:t>
            </a:r>
          </a:p>
          <a:p>
            <a:r>
              <a:t>Predicted transfer wait time</a:t>
            </a:r>
          </a:p>
          <a:p>
            <a:r>
              <a:t>Crowd level prediction</a:t>
            </a:r>
          </a:p>
          <a:p>
            <a:r>
              <a:t>Feeder dispatch recommendation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Role: Data Architect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stations.json metro graph</a:t>
            </a:r>
          </a:p>
          <a:p>
            <a:r>
              <a:t>Create feeders.json transport modes</a:t>
            </a:r>
          </a:p>
          <a:p>
            <a:r>
              <a:t>Create demand.csv prediction dataset</a:t>
            </a:r>
          </a:p>
          <a:p>
            <a:r>
              <a:t>Ensure consistent station naming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Role: Routing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metro graph with NetworkX</a:t>
            </a:r>
          </a:p>
          <a:p>
            <a:r>
              <a:t>Implement journey_planner() function</a:t>
            </a:r>
          </a:p>
          <a:p>
            <a:r>
              <a:t>Compute shortest paths</a:t>
            </a:r>
          </a:p>
          <a:p>
            <a:r>
              <a:t>Return route steps and total travel 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Team Role: Demand Prediction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demand.csv dataset</a:t>
            </a:r>
          </a:p>
          <a:p>
            <a:r>
              <a:t>Implement predict_wait()</a:t>
            </a:r>
          </a:p>
          <a:p>
            <a:r>
              <a:t>Classify crowd levels</a:t>
            </a:r>
          </a:p>
          <a:p>
            <a:r>
              <a:t>Return wait prediction and confidence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Role: Dispatch Logic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feeder_dispatch() rules</a:t>
            </a:r>
          </a:p>
          <a:p>
            <a:r>
              <a:t>Determine when additional transport is needed</a:t>
            </a:r>
          </a:p>
          <a:p>
            <a:r>
              <a:t>Return dispatch recommendation and reasoning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Team Role: UI &amp; Integration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Streamlit interface</a:t>
            </a:r>
          </a:p>
          <a:p>
            <a:r>
              <a:t>Connect routing, prediction, and dispatch modules</a:t>
            </a:r>
          </a:p>
          <a:p>
            <a:r>
              <a:t>Display results in structured sections</a:t>
            </a:r>
          </a:p>
          <a:p>
            <a:r>
              <a:t>Ensure smooth user demo flow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Optional Team Role: AI /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explanation layer for results</a:t>
            </a:r>
          </a:p>
          <a:p>
            <a:r>
              <a:t>Prepare demo script and narrative</a:t>
            </a:r>
          </a:p>
          <a:p>
            <a:r>
              <a:t>Format outputs for clarity</a:t>
            </a:r>
          </a:p>
          <a:p>
            <a:r>
              <a:t>Lead presentation during demo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Origin: PCMC</a:t>
            </a:r>
          </a:p>
          <a:p>
            <a:r>
              <a:t>Destination: Vanaz</a:t>
            </a:r>
          </a:p>
          <a:p>
            <a:r>
              <a:t>Time: Monday 6 PM</a:t>
            </a:r>
          </a:p>
          <a:p>
            <a:r>
              <a:t>System predicts high wait at Civil Court</a:t>
            </a:r>
          </a:p>
          <a:p>
            <a:r>
              <a:t>Recommendation: dispatch additional feeder autos/buses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423FC-2906-AB18-2406-80A76599B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8EE0C-20F5-B5FA-F1CB-B1194F374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816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854</Words>
  <Application>Microsoft Office PowerPoint</Application>
  <PresentationFormat>On-screen Show (4:3)</PresentationFormat>
  <Paragraphs>123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Pune MaaS AI Prototype</vt:lpstr>
      <vt:lpstr>Project Goal</vt:lpstr>
      <vt:lpstr>System Concept</vt:lpstr>
      <vt:lpstr>System Architecture</vt:lpstr>
      <vt:lpstr>Data Files</vt:lpstr>
      <vt:lpstr>Agent 1: Journey Planner</vt:lpstr>
      <vt:lpstr>Agent 1: Simple Version</vt:lpstr>
      <vt:lpstr>GAT Training data</vt:lpstr>
      <vt:lpstr>Agent 1: Final Concept Version</vt:lpstr>
      <vt:lpstr>GNN-based models</vt:lpstr>
      <vt:lpstr>Agent 2: Demand Prediction</vt:lpstr>
      <vt:lpstr>Agent 3: Feeder Dispatch</vt:lpstr>
      <vt:lpstr>User Interface Flow</vt:lpstr>
      <vt:lpstr>System Output</vt:lpstr>
      <vt:lpstr>Team Role: Data Architect</vt:lpstr>
      <vt:lpstr>Team Role: Routing Engineer</vt:lpstr>
      <vt:lpstr>Team Role: Demand Prediction Engineer</vt:lpstr>
      <vt:lpstr>Team Role: Dispatch Logic Engineer</vt:lpstr>
      <vt:lpstr>Team Role: UI &amp; Integration Engineer</vt:lpstr>
      <vt:lpstr>Optional Team Role: AI / Presentation</vt:lpstr>
      <vt:lpstr>Demo Scenario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Rivera, Josette F</cp:lastModifiedBy>
  <cp:revision>5</cp:revision>
  <dcterms:created xsi:type="dcterms:W3CDTF">2013-01-27T09:14:16Z</dcterms:created>
  <dcterms:modified xsi:type="dcterms:W3CDTF">2026-03-11T17:22:56Z</dcterms:modified>
  <cp:category/>
</cp:coreProperties>
</file>